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7" d="100"/>
          <a:sy n="127" d="100"/>
        </p:scale>
        <p:origin x="5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Rule engine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below-MDR</c:v>
                </c:pt>
                <c:pt idx="1">
                  <c:v>MDR</c:v>
                </c:pt>
                <c:pt idx="2">
                  <c:v>pre-XDR</c:v>
                </c:pt>
                <c:pt idx="3">
                  <c:v>XDR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92</c:v>
                </c:pt>
                <c:pt idx="1">
                  <c:v>63</c:v>
                </c:pt>
                <c:pt idx="2">
                  <c:v>63</c:v>
                </c:pt>
                <c:pt idx="3">
                  <c:v>52.9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939-494B-B5C6-6BED252BF5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WHO catalog</c:v>
                </c:pt>
              </c:strCache>
            </c:strRef>
          </c:tx>
          <c:spPr>
            <a:solidFill>
              <a:srgbClr val="1F3A5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below-MDR</c:v>
                </c:pt>
                <c:pt idx="1">
                  <c:v>MDR</c:v>
                </c:pt>
                <c:pt idx="2">
                  <c:v>pre-XDR</c:v>
                </c:pt>
                <c:pt idx="3">
                  <c:v>XDR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92</c:v>
                </c:pt>
                <c:pt idx="1">
                  <c:v>63.2</c:v>
                </c:pt>
                <c:pt idx="2">
                  <c:v>63.3</c:v>
                </c:pt>
                <c:pt idx="3">
                  <c:v>53.8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939-494B-B5C6-6BED252BF5E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4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Resistant isolates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8DEC-D64E-B570-49A90B78C3E0}"/>
              </c:ext>
            </c:extLst>
          </c:dPt>
          <c:dPt>
            <c:idx val="1"/>
            <c:bubble3D val="0"/>
            <c:spPr>
              <a:solidFill>
                <a:srgbClr val="1F3A5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8DEC-D64E-B570-49A90B78C3E0}"/>
              </c:ext>
            </c:extLst>
          </c:dPt>
          <c:dPt>
            <c:idx val="2"/>
            <c:bubble3D val="0"/>
            <c:spPr>
              <a:solidFill>
                <a:srgbClr val="C2410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8DEC-D64E-B570-49A90B78C3E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8DEC-D64E-B570-49A90B78C3E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8DEC-D64E-B570-49A90B78C3E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0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en-US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8DEC-D64E-B570-49A90B78C3E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Correct in both</c:v>
                </c:pt>
                <c:pt idx="1">
                  <c:v>Discordance, both wrong</c:v>
                </c:pt>
                <c:pt idx="2">
                  <c:v>Engine only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2158</c:v>
                </c:pt>
                <c:pt idx="1">
                  <c:v>1335</c:v>
                </c:pt>
                <c:pt idx="2">
                  <c:v>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8DEC-D64E-B570-49A90B78C3E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8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System</c:v>
                </c:pt>
              </c:strCache>
            </c:strRef>
          </c:tx>
          <c:spPr>
            <a:solidFill>
              <a:srgbClr val="2A9D8F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Regimen</c:v>
                </c:pt>
                <c:pt idx="1">
                  <c:v>Outcome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67.400000000000006</c:v>
                </c:pt>
                <c:pt idx="1">
                  <c:v>74.5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254-B24C-8DB8-A406C5AC62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Regimen</c:v>
                </c:pt>
                <c:pt idx="1">
                  <c:v>Outcome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81</c:v>
                </c:pt>
                <c:pt idx="1">
                  <c:v>73.8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254-B24C-8DB8-A406C5AC6275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>
              <a:solidFill>
                <a:srgbClr val="64748B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99713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22960" y="1874520"/>
            <a:ext cx="201168" cy="20116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115568" y="1874520"/>
            <a:ext cx="201168" cy="201168"/>
          </a:xfrm>
          <a:prstGeom prst="rect">
            <a:avLst/>
          </a:prstGeom>
          <a:solidFill>
            <a:srgbClr val="8FD0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515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4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TB Drug-Resistance Decision Support</a:t>
            </a:r>
            <a:endParaRPr lang="en-US" sz="4100" dirty="0"/>
          </a:p>
        </p:txBody>
      </p:sp>
      <p:sp>
        <p:nvSpPr>
          <p:cNvPr id="5" name="Text 3"/>
          <p:cNvSpPr/>
          <p:nvPr/>
        </p:nvSpPr>
        <p:spPr>
          <a:xfrm>
            <a:off x="841248" y="3703320"/>
            <a:ext cx="9875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800" dirty="0">
                <a:solidFill>
                  <a:srgbClr val="8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neuro-symbolic clinical reasoning system for </a:t>
            </a:r>
            <a:r>
              <a:rPr lang="en-US" sz="1800" i="1" dirty="0">
                <a:solidFill>
                  <a:srgbClr val="8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Mycobacterium tuberculosis</a:t>
            </a:r>
            <a:r>
              <a:rPr lang="en-US" sz="1800" dirty="0">
                <a:solidFill>
                  <a:srgbClr val="8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validated against real-world resistance data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41248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Portfolio Project 3      github.com/jsf3467v/tb-resistance-decision-support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15544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" y="38404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a hybrid design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41248" y="123444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answers a different clinical need, and together they make the reasoning both auditable and adaptable.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3401568" cy="329184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914400" y="2578608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578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914400" y="333756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Auditable rules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914400" y="3840480"/>
            <a:ext cx="2852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symbolic rule engine encodes WHO resistance logic, so every classification can be traced to the rule that produced it.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361688" y="2286000"/>
            <a:ext cx="3401568" cy="329184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4636008" y="2578608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636008" y="2578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4636008" y="333756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experience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636008" y="3840480"/>
            <a:ext cx="2852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Case-based reasoning draws on prior patient cases for the situations where guidelines alone do not fix a regimen.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083296" y="2286000"/>
            <a:ext cx="3401568" cy="329184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8357616" y="2578608"/>
            <a:ext cx="566928" cy="566928"/>
          </a:xfrm>
          <a:prstGeom prst="ellipse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57616" y="257860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357616" y="3337560"/>
            <a:ext cx="28529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knowledge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8357616" y="3840480"/>
            <a:ext cx="2852928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knowledge graph and a plain-English query layer make the WHO catalog explorable without writing code.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15544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" y="38404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Four-layer architecture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5943600" cy="960120"/>
          </a:xfrm>
          <a:prstGeom prst="roundRect">
            <a:avLst>
              <a:gd name="adj" fmla="val 6667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blurRad="88900" dist="381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68680" y="163677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graph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868680" y="2011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WHO catalog as 30,699 mutation nodes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2606040"/>
            <a:ext cx="5943600" cy="960120"/>
          </a:xfrm>
          <a:prstGeom prst="roundRect">
            <a:avLst>
              <a:gd name="adj" fmla="val 6667"/>
            </a:avLst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blurRad="88900" dist="381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868680" y="273405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868680" y="31089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Classifies MDR, pre-XDR, and XDR, then selects the regimen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0080" y="3703320"/>
            <a:ext cx="594360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68680" y="383133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Case-based reasoning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868680" y="4206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Retrieval over 1,000 synthetic patient cases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4800600"/>
            <a:ext cx="5943600" cy="960120"/>
          </a:xfrm>
          <a:prstGeom prst="roundRect">
            <a:avLst>
              <a:gd name="adj" fmla="val 6667"/>
            </a:avLst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868680" y="4928616"/>
            <a:ext cx="5486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Natural-language interface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868680" y="53035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 English to Cypher under a read-only guard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903720" y="1508760"/>
            <a:ext cx="4663440" cy="22402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903720" y="1508760"/>
            <a:ext cx="64008" cy="224028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159752" y="170992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Durable platform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7159752" y="2185416"/>
            <a:ext cx="4206240" cy="1399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knowledge graph and rule engine are grounded in the WHO catalog. This layer is stable and evidence-based, and it carries the clinical logic.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903720" y="3931920"/>
            <a:ext cx="4663440" cy="192024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6903720" y="3931920"/>
            <a:ext cx="64008" cy="1920240"/>
          </a:xfrm>
          <a:prstGeom prst="rect">
            <a:avLst/>
          </a:prstGeom>
          <a:solidFill>
            <a:srgbClr val="8FD0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159752" y="4133088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Swappable patient layer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7159752" y="4608576"/>
            <a:ext cx="42062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 base sits on top and can be replaced with real cohorts as they become available, without disturbing the platform.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15544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" y="38404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system in action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24028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  <a:effectLst>
            <a:outerShdw blurRad="88900" dist="381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749808" y="240487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genotype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749808" y="2880360"/>
            <a:ext cx="23225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rpoB, katG, gyrA, and rrs variants are read in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118104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11296" y="224028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  <a:effectLst>
            <a:outerShdw blurRad="88900" dist="381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3621024" y="240487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engine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3621024" y="2880360"/>
            <a:ext cx="23225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isolate is classified as XDR by the chained rules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8932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82512" y="224028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  <a:effectLst>
            <a:outerShdw blurRad="88900" dist="381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492240" y="240487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Cross-resistance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6492240" y="2880360"/>
            <a:ext cx="23225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fluoroquinolone and injectable classes are excluded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860536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253728" y="2240280"/>
            <a:ext cx="2542032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5875">
            <a:solidFill>
              <a:srgbClr val="2A9D8F"/>
            </a:solidFill>
            <a:prstDash val="solid"/>
          </a:ln>
          <a:effectLst>
            <a:outerShdw blurRad="88900" dist="381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9363456" y="2404872"/>
            <a:ext cx="23225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9363456" y="2880360"/>
            <a:ext cx="232257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BPaL regimen is returned with the full trace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" y="45720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3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step is explicit, so a clinician can see why a regimen was chosen and what was ruled out.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15544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" y="38404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symbolic core works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41248" y="1554480"/>
            <a:ext cx="658368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engine classifies resistance tiers from catalogued mutations, applies whole-class cross-resistance so a contraindicated drug is never offered, and selects between the BPaL and BPaLM regimens.</a:t>
            </a:r>
            <a:endParaRPr lang="en-US" sz="15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logic is explicit and testable rather than learned, which is what makes each recommendation defensible to a clinician.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955280" y="1828800"/>
            <a:ext cx="3566160" cy="3017520"/>
          </a:xfrm>
          <a:prstGeom prst="rect">
            <a:avLst/>
          </a:prstGeom>
          <a:solidFill>
            <a:srgbClr val="1F3A5F"/>
          </a:solidFill>
          <a:ln/>
          <a:effectLst>
            <a:outerShdw blurRad="88900" dist="381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7955280" y="2286000"/>
            <a:ext cx="35661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400" b="1" dirty="0">
                <a:solidFill>
                  <a:srgbClr val="8FD0C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100%</a:t>
            </a:r>
            <a:endParaRPr lang="en-US" sz="6400" dirty="0"/>
          </a:p>
        </p:txBody>
      </p:sp>
      <p:sp>
        <p:nvSpPr>
          <p:cNvPr id="7" name="Text 5"/>
          <p:cNvSpPr/>
          <p:nvPr/>
        </p:nvSpPr>
        <p:spPr>
          <a:xfrm>
            <a:off x="8229600" y="3611880"/>
            <a:ext cx="3017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ct val="110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the twelve scored natural-language queries answered correctly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15544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" y="38404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Grounded in the WHO catalog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1005840" y="2103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30,699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822960" y="299923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 nodes in the knowledge graph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4572000" y="2103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48,152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389120" y="299923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the WHO mutation catalog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8138160" y="2103120"/>
            <a:ext cx="3017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1,000</a:t>
            </a:r>
            <a:endParaRPr lang="en-US" sz="5000" dirty="0"/>
          </a:p>
        </p:txBody>
      </p:sp>
      <p:sp>
        <p:nvSpPr>
          <p:cNvPr id="9" name="Text 7"/>
          <p:cNvSpPr/>
          <p:nvPr/>
        </p:nvSpPr>
        <p:spPr>
          <a:xfrm>
            <a:off x="7955280" y="2999232"/>
            <a:ext cx="3383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synthetic patient cases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41248" y="4480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platform is grounded in current WHO evidence, while the patient layer stays transparent and deterministic given a fixed seed.</a:t>
            </a:r>
            <a:endParaRPr lang="en-US" sz="15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15544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" y="38404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Validated on real-world isolates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41248" y="132588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4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rule engine was scored against measured drug-susceptibility phenotypes from the CRyPTIC consortium.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4688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13,118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48640" y="336499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measured isolates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383280" y="24688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000" b="1" dirty="0">
                <a:solidFill>
                  <a:srgbClr val="2A9D8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99.9%</a:t>
            </a:r>
            <a:endParaRPr lang="en-US" sz="5000" dirty="0"/>
          </a:p>
        </p:txBody>
      </p:sp>
      <p:sp>
        <p:nvSpPr>
          <p:cNvPr id="8" name="Text 6"/>
          <p:cNvSpPr/>
          <p:nvPr/>
        </p:nvSpPr>
        <p:spPr>
          <a:xfrm>
            <a:off x="3200400" y="3364992"/>
            <a:ext cx="2834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agreement with the WHO catalog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841248" y="4572000"/>
            <a:ext cx="5486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Reproducing the gold-standard catalog on real isolates shows the reasoning is faithful, not approximate.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by tier, engine versus catalog</a:t>
            </a:r>
            <a:endParaRPr lang="en-US" sz="1250" dirty="0"/>
          </a:p>
        </p:txBody>
      </p:sp>
      <p:graphicFrame>
        <p:nvGraphicFramePr>
          <p:cNvPr id="11" name="Chart 0"/>
          <p:cNvGraphicFramePr/>
          <p:nvPr/>
        </p:nvGraphicFramePr>
        <p:xfrm>
          <a:off x="6400800" y="1737360"/>
          <a:ext cx="5212080" cy="4206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15544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" y="38404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ceiling is biological, not a defect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41248" y="1463040"/>
            <a:ext cx="5486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3,505 resistant isolates, almost every error the engine makes is also made by the gold-standard catalog.</a:t>
            </a:r>
            <a:endParaRPr lang="en-US" sz="14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Those shared errors are genotype-phenotype discordance, resistance seen on testing with no catalogued genotypic marker. No genotype-based method can recover them, so the limit is biological.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841248" y="493776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unique to the engine, against </a:t>
            </a:r>
            <a:r>
              <a:rPr lang="en-US" sz="200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1,335 </a:t>
            </a:r>
            <a:r>
              <a:rPr lang="en-US" sz="13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with the catalog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492240" y="137160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Resistant isolates, 3,505 total</a:t>
            </a:r>
            <a:endParaRPr lang="en-US" sz="1250" dirty="0"/>
          </a:p>
        </p:txBody>
      </p:sp>
      <p:graphicFrame>
        <p:nvGraphicFramePr>
          <p:cNvPr id="7" name="Chart 0"/>
          <p:cNvGraphicFramePr/>
          <p:nvPr/>
        </p:nvGraphicFramePr>
        <p:xfrm>
          <a:off x="6492240" y="1737360"/>
          <a:ext cx="5029200" cy="4297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15544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" y="38404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Case retrieval, the experimental component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841248" y="1463040"/>
            <a:ext cx="548640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case-based layer is reported honestly as the experimental component.</a:t>
            </a:r>
            <a:endParaRPr lang="en-US" sz="14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Regimen accuracy sits below the majority baseline. The shortfall is diagnosed as objective mismatch plus retrieval starvation in the rare resistant classes, where neighbor-based retrieval is data-poor by construction, rather than left unexplained.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640080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versus baseline</a:t>
            </a:r>
            <a:endParaRPr lang="en-US" sz="1250" dirty="0"/>
          </a:p>
        </p:txBody>
      </p:sp>
      <p:graphicFrame>
        <p:nvGraphicFramePr>
          <p:cNvPr id="6" name="Chart 0"/>
          <p:cNvGraphicFramePr/>
          <p:nvPr/>
        </p:nvGraphicFramePr>
        <p:xfrm>
          <a:off x="6400800" y="1737360"/>
          <a:ext cx="5212080" cy="4114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15544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" y="38404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rigor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10515600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64008" cy="14173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8992" y="18013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deterministic tests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78992" y="2276856"/>
            <a:ext cx="10058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pytest suite locks in classification, calibration math, generator determinism, and graph integrity, with no database or API required.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822960" y="3200400"/>
            <a:ext cx="10515600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822960" y="3200400"/>
            <a:ext cx="64008" cy="14173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1078992" y="34015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Calibration tested and rejected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1078992" y="3877056"/>
            <a:ext cx="10058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calibration error is 0.075 on the raw probability. Temperature scaling was tested and rejected on evidence, since it raised the error to 0.177.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4800600"/>
            <a:ext cx="10515600" cy="141732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4800600"/>
            <a:ext cx="64008" cy="141732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78992" y="500176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Reproducible evaluation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78992" y="5477256"/>
            <a:ext cx="100584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entry point produces every metric, the graph arm is skipped gracefully when services are down, and a fixed seed makes runs repeatable.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15544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" y="38404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1F3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600200"/>
            <a:ext cx="5349240" cy="17830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600200"/>
            <a:ext cx="64008" cy="178308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8992" y="18013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Synthetic patient layer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78992" y="2276856"/>
            <a:ext cx="48920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outcome dataset with the needed structure was available, so case retrieval is shown on generated cases.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600200"/>
            <a:ext cx="5349240" cy="17830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55080" y="1600200"/>
            <a:ext cx="64008" cy="178308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11112" y="180136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outcomes in CRyPTIC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611112" y="2276856"/>
            <a:ext cx="48920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dataset carries genotype and phenotype only, so it validates classification, not regimen outcomes.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22960" y="3611880"/>
            <a:ext cx="5349240" cy="17830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822960" y="3611880"/>
            <a:ext cx="64008" cy="178308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078992" y="38130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Scoped XDR definition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78992" y="4288536"/>
            <a:ext cx="48920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engine implements the pre-2021 definition as a deliberate, documented choice.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355080" y="3611880"/>
            <a:ext cx="5349240" cy="1783080"/>
          </a:xfrm>
          <a:prstGeom prst="rect">
            <a:avLst/>
          </a:prstGeom>
          <a:solidFill>
            <a:srgbClr val="F4F6F8"/>
          </a:solidFill>
          <a:ln w="12700">
            <a:solidFill>
              <a:srgbClr val="E2E8F0"/>
            </a:solidFill>
            <a:prstDash val="solid"/>
          </a:ln>
          <a:effectLst>
            <a:outerShdw blurRad="88900" dist="381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6355080" y="3611880"/>
            <a:ext cx="64008" cy="1783080"/>
          </a:xfrm>
          <a:prstGeom prst="rect">
            <a:avLst/>
          </a:prstGeom>
          <a:solidFill>
            <a:srgbClr val="C2410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611112" y="381304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1F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Discordance ceiling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6611112" y="4288536"/>
            <a:ext cx="4892040" cy="9418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16% of measured resistance has no catalogued genotypic marker, so no rule-based method can reach it.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4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566928"/>
            <a:ext cx="155448" cy="155448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41248" y="384048"/>
            <a:ext cx="1078992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9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Future work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822960" y="1737360"/>
            <a:ext cx="5349240" cy="32918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blurRad="88900" dist="381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64008" cy="329184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078992" y="19385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8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learned model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78992" y="2414016"/>
            <a:ext cx="48920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on the full genome-wide variant table and minimum-inhibitory-concentration magnitudes, to probe how much of the genotype-phenotype discordance can be recovered beyond the curated catalog. The catalog defines the bar the model must beat.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6355080" y="1737360"/>
            <a:ext cx="5349240" cy="3291840"/>
          </a:xfrm>
          <a:prstGeom prst="rect">
            <a:avLst/>
          </a:prstGeom>
          <a:solidFill>
            <a:srgbClr val="1F3A5F"/>
          </a:solidFill>
          <a:ln w="12700">
            <a:solidFill>
              <a:srgbClr val="1F3A5F"/>
            </a:solidFill>
            <a:prstDash val="solid"/>
          </a:ln>
          <a:effectLst>
            <a:outerShdw blurRad="88900" dist="38100" dir="8100000" algn="bl" rotWithShape="0">
              <a:srgbClr val="1E293B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355080" y="1737360"/>
            <a:ext cx="64008" cy="3291840"/>
          </a:xfrm>
          <a:prstGeom prst="rect">
            <a:avLst/>
          </a:prstGeom>
          <a:solidFill>
            <a:srgbClr val="8FD0C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11112" y="1938528"/>
            <a:ext cx="4892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1550" b="1" dirty="0">
                <a:solidFill>
                  <a:srgbClr val="8FD0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 validation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6611112" y="2414016"/>
            <a:ext cx="4892040" cy="2450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250" dirty="0">
                <a:solidFill>
                  <a:srgbClr val="D7E1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the case-based layer against the TB Portals dataset, which carries real treatment outcomes, so the regimen and outcome layer can finally be measured on real patients rather than synthetic cases.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841248" y="612648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8C9A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github.com/jsf3467v/tb-resistance-decision-support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856</Words>
  <Application>Microsoft Macintosh PowerPoint</Application>
  <PresentationFormat>Widescreen</PresentationFormat>
  <Paragraphs>107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TB Drug-Resistance Decision Support</dc:title>
  <dc:subject>PptxGenJS Presentation</dc:subject>
  <dc:creator>jsf3467v</dc:creator>
  <cp:lastModifiedBy>Arlene Keith</cp:lastModifiedBy>
  <cp:revision>1</cp:revision>
  <dcterms:created xsi:type="dcterms:W3CDTF">2026-06-02T22:47:37Z</dcterms:created>
  <dcterms:modified xsi:type="dcterms:W3CDTF">2026-06-03T00:05:29Z</dcterms:modified>
</cp:coreProperties>
</file>